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0" r:id="rId3"/>
    <p:sldId id="268" r:id="rId4"/>
    <p:sldId id="269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223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0" cy="1097280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0" y="1188720"/>
            <a:ext cx="1645920" cy="1645920"/>
          </a:xfrm>
          <a:prstGeom prst="ellipse">
            <a:avLst/>
          </a:prstGeom>
          <a:solidFill>
            <a:srgbClr val="00B4D8">
              <a:alpha val="30000"/>
            </a:srgbClr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0" y="1371600"/>
            <a:ext cx="1280160" cy="1280160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0" y="11887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BD2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Gestor 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457200" y="2633472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Indexación · Parser SQL · Gestión de Memoria Paginada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6949" y="3291840"/>
            <a:ext cx="8736036" cy="50292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5760" y="3291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E8F4FD"/>
                </a:solidFill>
              </a:rPr>
              <a:t>Sebastian Hernandez Miñano	Andrés Torres Ramos	Carlos Angel Oriundo	André Contreras Valera	David Huette Ospino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54496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</a:rPr>
              <a:t>Mayo 2026  ·  Base de Datos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PARSER SQL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Parser  —  Scanner → AST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965960" cy="242316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78408" y="1508760"/>
            <a:ext cx="640080" cy="640080"/>
          </a:xfrm>
          <a:prstGeom prst="ellipse">
            <a:avLst/>
          </a:prstGeom>
          <a:solidFill>
            <a:srgbClr val="8FA8C8">
              <a:alpha val="85000"/>
            </a:srgbClr>
          </a:solidFill>
          <a:ln w="12700">
            <a:solidFill>
              <a:srgbClr val="8FA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2677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A8C8"/>
                </a:solidFill>
              </a:rPr>
              <a:t>Input SQL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706624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SELECT * FROM tabla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WHERE id = 42;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24688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A8C8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496312" y="1417320"/>
            <a:ext cx="1965960" cy="242316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1508760"/>
            <a:ext cx="640080" cy="640080"/>
          </a:xfrm>
          <a:prstGeom prst="ellipse">
            <a:avLst/>
          </a:prstGeom>
          <a:solidFill>
            <a:srgbClr val="FFB703">
              <a:alpha val="85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546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87752" y="22677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703"/>
                </a:solidFill>
              </a:rPr>
              <a:t>Scanner (DFA)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87752" y="2706624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Tokenización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Identif. · Núm. · Cadenas · Ops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62272" y="24688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A8C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72584" y="1417320"/>
            <a:ext cx="1965960" cy="242316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30952" y="1508760"/>
            <a:ext cx="640080" cy="640080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30952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64024" y="22677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Parser (ASDR)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64024" y="2706624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Validación sintáctica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E8F4FD"/>
                </a:solidFill>
              </a:rPr>
              <a:t>Análisis</a:t>
            </a:r>
            <a:r>
              <a:rPr lang="en-US" sz="1000" dirty="0">
                <a:solidFill>
                  <a:srgbClr val="E8F4FD"/>
                </a:solidFill>
              </a:rPr>
              <a:t> </a:t>
            </a:r>
            <a:r>
              <a:rPr lang="en-US" sz="1000" dirty="0" err="1">
                <a:solidFill>
                  <a:srgbClr val="E8F4FD"/>
                </a:solidFill>
              </a:rPr>
              <a:t>Sintáctico</a:t>
            </a:r>
            <a:r>
              <a:rPr lang="en-US" sz="1000" dirty="0">
                <a:solidFill>
                  <a:srgbClr val="E8F4FD"/>
                </a:solidFill>
              </a:rPr>
              <a:t> </a:t>
            </a:r>
            <a:r>
              <a:rPr lang="en-US" sz="1000" dirty="0" err="1">
                <a:solidFill>
                  <a:srgbClr val="E8F4FD"/>
                </a:solidFill>
              </a:rPr>
              <a:t>Descendente</a:t>
            </a:r>
            <a:r>
              <a:rPr lang="en-US" sz="1000" dirty="0">
                <a:solidFill>
                  <a:srgbClr val="E8F4FD"/>
                </a:solidFill>
              </a:rPr>
              <a:t> </a:t>
            </a:r>
            <a:r>
              <a:rPr lang="en-US" sz="1000" dirty="0" err="1">
                <a:solidFill>
                  <a:srgbClr val="E8F4FD"/>
                </a:solidFill>
              </a:rPr>
              <a:t>Recursivo</a:t>
            </a:r>
            <a:endParaRPr lang="en-US" sz="1000" dirty="0">
              <a:solidFill>
                <a:srgbClr val="E8F4FD"/>
              </a:solidFill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CREATE TABLE, INSERT, DELETE, SELECT (BETWEEN), SPATIAL, KNN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38544" y="24688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A8C8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848856" y="1417320"/>
            <a:ext cx="1965960" cy="242316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507224" y="1508760"/>
            <a:ext cx="640080" cy="640080"/>
          </a:xfrm>
          <a:prstGeom prst="ellipse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07224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40296" y="22677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AST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0296" y="2706624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Árbol de Sintaxis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Abstracta (dataclass)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977640"/>
            <a:ext cx="8503920" cy="86868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3977640"/>
            <a:ext cx="54864" cy="868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4023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</a:rPr>
              <a:t>Tratamiento de tipos complejos: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343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parse_type_name() usa un contador de profundidad para capturar definiciones con paréntesis anidados, ej: VARCHAR(50), POINT(x,y). Garantiza que la columna se capture íntegramente antes de buscar la siguiente coma.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PARSER SQL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Léxico  —  DFA (Scanner)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937760" cy="658368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22960" cy="658368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408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Inicio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6824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8"/>
                </a:solidFill>
              </a:rPr>
              <a:t>Estado inicial. Descarta espacios en blanco y decide el primer carácter.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121408"/>
            <a:ext cx="4937760" cy="658368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22960" cy="65836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12140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157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Identificador / Keyword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24323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8"/>
                </a:solidFill>
              </a:rPr>
              <a:t>Acumula alfanuméricos. Al finalizar, contrasta con tabla de palabras reservadas SQL.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871216"/>
            <a:ext cx="4937760" cy="658368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871216"/>
            <a:ext cx="822960" cy="658368"/>
          </a:xfrm>
          <a:prstGeom prst="rect">
            <a:avLst/>
          </a:prstGeom>
          <a:solidFill>
            <a:srgbClr val="FFB703">
              <a:alpha val="8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87121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qnum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2907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</a:rPr>
              <a:t>Numérico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3182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8"/>
                </a:solidFill>
              </a:rPr>
              <a:t>Procesa enteros, decimales y negativos. Soporta signo – inicial para coordenadas R-Tree.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621024"/>
            <a:ext cx="4937760" cy="658368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621024"/>
            <a:ext cx="822960" cy="658368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362102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qstr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Cadena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8"/>
                </a:solidFill>
              </a:rPr>
              <a:t>Acumula caracteres hasta encontrar comilla de cierre (' o ").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370832"/>
            <a:ext cx="4937760" cy="658368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4370832"/>
            <a:ext cx="822960" cy="658368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37083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qop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34440" y="4407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Operador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34440" y="46817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8"/>
                </a:solidFill>
              </a:rPr>
              <a:t>Lookahead de 1 carácter para reconocer operadores multicarácter: &lt;=, &gt;=, !=.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Autómata DFA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06540" y="2121408"/>
            <a:ext cx="1188720" cy="914400"/>
          </a:xfrm>
          <a:prstGeom prst="ellipse">
            <a:avLst/>
          </a:prstGeom>
          <a:solidFill>
            <a:srgbClr val="06D6A0">
              <a:alpha val="80000"/>
            </a:srgbClr>
          </a:solidFill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06540" y="211455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0" y="146304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00B4D8">
              <a:alpha val="70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0" y="1463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qid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2029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0B4D8"/>
                </a:solidFill>
              </a:rPr>
              <a:t>letra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726680" y="146304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FB703">
              <a:alpha val="70000"/>
            </a:srgbClr>
          </a:solidFill>
          <a:ln w="1905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726680" y="1463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qnum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726680" y="2029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B703"/>
                </a:solidFill>
              </a:rPr>
              <a:t>dígito/-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86400" y="320040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8B5CF6">
              <a:alpha val="7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0" y="3200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qstr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0" y="3767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B5CF6"/>
                </a:solidFill>
              </a:rPr>
              <a:t>' o "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726680" y="320040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06D6A0">
              <a:alpha val="70000"/>
            </a:srgbClr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726680" y="3200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qop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726680" y="3767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6D6A0"/>
                </a:solidFill>
              </a:rPr>
              <a:t>&lt;&gt;=!</a:t>
            </a:r>
            <a:endParaRPr lang="en-US" sz="85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2937477-0207-A549-FA85-79AB4735849F}"/>
              </a:ext>
            </a:extLst>
          </p:cNvPr>
          <p:cNvCxnSpPr>
            <a:stCxn id="31" idx="1"/>
            <a:endCxn id="33" idx="2"/>
          </p:cNvCxnSpPr>
          <p:nvPr/>
        </p:nvCxnSpPr>
        <p:spPr>
          <a:xfrm flipH="1" flipV="1">
            <a:off x="6080760" y="2011680"/>
            <a:ext cx="699864" cy="243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1D2E05D-7413-473B-549F-F96558BAD4A0}"/>
              </a:ext>
            </a:extLst>
          </p:cNvPr>
          <p:cNvCxnSpPr>
            <a:stCxn id="31" idx="7"/>
            <a:endCxn id="38" idx="0"/>
          </p:cNvCxnSpPr>
          <p:nvPr/>
        </p:nvCxnSpPr>
        <p:spPr>
          <a:xfrm flipV="1">
            <a:off x="7621176" y="2029968"/>
            <a:ext cx="699864" cy="225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AE9FD03-7034-FF2B-CAE2-9A8AA5C751E2}"/>
              </a:ext>
            </a:extLst>
          </p:cNvPr>
          <p:cNvCxnSpPr>
            <a:cxnSpLocks/>
            <a:stCxn id="31" idx="3"/>
            <a:endCxn id="39" idx="3"/>
          </p:cNvCxnSpPr>
          <p:nvPr/>
        </p:nvCxnSpPr>
        <p:spPr>
          <a:xfrm flipH="1">
            <a:off x="6675120" y="2901897"/>
            <a:ext cx="105504" cy="572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3F36EE3-E6C5-F6B2-C32E-82B29556055B}"/>
              </a:ext>
            </a:extLst>
          </p:cNvPr>
          <p:cNvCxnSpPr>
            <a:cxnSpLocks/>
            <a:stCxn id="31" idx="5"/>
            <a:endCxn id="42" idx="1"/>
          </p:cNvCxnSpPr>
          <p:nvPr/>
        </p:nvCxnSpPr>
        <p:spPr>
          <a:xfrm>
            <a:off x="7621176" y="2901897"/>
            <a:ext cx="105504" cy="572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Arrow: Curved Down 54">
            <a:extLst>
              <a:ext uri="{FF2B5EF4-FFF2-40B4-BE49-F238E27FC236}">
                <a16:creationId xmlns:a16="http://schemas.microsoft.com/office/drawing/2014/main" id="{EF2ACB7C-04FE-4A73-FC3D-1CB113912D4E}"/>
              </a:ext>
            </a:extLst>
          </p:cNvPr>
          <p:cNvSpPr/>
          <p:nvPr/>
        </p:nvSpPr>
        <p:spPr>
          <a:xfrm>
            <a:off x="5910580" y="1197864"/>
            <a:ext cx="340360" cy="2286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Arrow: Curved Down 55">
            <a:extLst>
              <a:ext uri="{FF2B5EF4-FFF2-40B4-BE49-F238E27FC236}">
                <a16:creationId xmlns:a16="http://schemas.microsoft.com/office/drawing/2014/main" id="{6CADB900-D978-BB14-2E33-330ECAE2F722}"/>
              </a:ext>
            </a:extLst>
          </p:cNvPr>
          <p:cNvSpPr/>
          <p:nvPr/>
        </p:nvSpPr>
        <p:spPr>
          <a:xfrm>
            <a:off x="8150860" y="1189736"/>
            <a:ext cx="340360" cy="2286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Arrow: Curved Down 56">
            <a:extLst>
              <a:ext uri="{FF2B5EF4-FFF2-40B4-BE49-F238E27FC236}">
                <a16:creationId xmlns:a16="http://schemas.microsoft.com/office/drawing/2014/main" id="{1DEB74C1-0793-9DAA-01D3-640F2F64D924}"/>
              </a:ext>
            </a:extLst>
          </p:cNvPr>
          <p:cNvSpPr/>
          <p:nvPr/>
        </p:nvSpPr>
        <p:spPr>
          <a:xfrm>
            <a:off x="8150860" y="2932578"/>
            <a:ext cx="340360" cy="2286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50857" y="31242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87061" y="3124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PARSER SQL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Formal EBNF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83464" y="899593"/>
            <a:ext cx="2286000" cy="29260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83464" y="899593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Producción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15184" y="899593"/>
            <a:ext cx="6172200" cy="29260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15184" y="899593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Definición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" y="1210489"/>
            <a:ext cx="2286000" cy="283464"/>
          </a:xfrm>
          <a:prstGeom prst="rect">
            <a:avLst/>
          </a:prstGeom>
          <a:solidFill>
            <a:srgbClr val="1E3050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15184" y="1210489"/>
            <a:ext cx="6172200" cy="283464"/>
          </a:xfrm>
          <a:prstGeom prst="rect">
            <a:avLst/>
          </a:prstGeom>
          <a:solidFill>
            <a:srgbClr val="1E3050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0896" y="1210489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&lt;program&gt;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51760" y="1210489"/>
            <a:ext cx="6126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::= { &lt;statement&gt; }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3464" y="1512241"/>
            <a:ext cx="2286000" cy="283464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15184" y="1512241"/>
            <a:ext cx="6172200" cy="283464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0896" y="1512241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&lt;statement&gt;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51760" y="1512241"/>
            <a:ext cx="6126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::= ( &lt;</a:t>
            </a:r>
            <a:r>
              <a:rPr lang="en-US" sz="85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create_stmt</a:t>
            </a: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| &lt;</a:t>
            </a:r>
            <a:r>
              <a:rPr lang="en-US" sz="85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select_stmt</a:t>
            </a: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| &lt;</a:t>
            </a:r>
            <a:r>
              <a:rPr lang="en-US" sz="85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insert_stmt</a:t>
            </a: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| &lt;</a:t>
            </a:r>
            <a:r>
              <a:rPr lang="en-US" sz="85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delete_stmt</a:t>
            </a: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) ;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3464" y="1813993"/>
            <a:ext cx="2286000" cy="283464"/>
          </a:xfrm>
          <a:prstGeom prst="rect">
            <a:avLst/>
          </a:prstGeom>
          <a:solidFill>
            <a:srgbClr val="1E3050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615184" y="1813993"/>
            <a:ext cx="6172200" cy="283464"/>
          </a:xfrm>
          <a:prstGeom prst="rect">
            <a:avLst/>
          </a:prstGeom>
          <a:solidFill>
            <a:srgbClr val="1E3050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0896" y="1813993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 err="1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create_stmt</a:t>
            </a:r>
            <a:r>
              <a:rPr lang="en-US" sz="9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51760" y="1813993"/>
            <a:ext cx="6126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::= CREATE TABLE &lt;id&gt; "(" &lt;</a:t>
            </a:r>
            <a:r>
              <a:rPr lang="en-US" sz="85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column_list</a:t>
            </a: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")" [ FROM FILE &lt;str&gt; ]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3464" y="2115745"/>
            <a:ext cx="2286000" cy="283464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615184" y="2115745"/>
            <a:ext cx="6172200" cy="283464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10896" y="2115745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&lt;column_def&gt;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51760" y="2115745"/>
            <a:ext cx="6126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::= &lt;id&gt; &lt;type_def&gt; [ INDEX &lt;index_tech&gt; ]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83464" y="2417497"/>
            <a:ext cx="2286000" cy="283464"/>
          </a:xfrm>
          <a:prstGeom prst="rect">
            <a:avLst/>
          </a:prstGeom>
          <a:solidFill>
            <a:srgbClr val="1E3050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15184" y="2417497"/>
            <a:ext cx="6172200" cy="283464"/>
          </a:xfrm>
          <a:prstGeom prst="rect">
            <a:avLst/>
          </a:prstGeom>
          <a:solidFill>
            <a:srgbClr val="1E3050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10896" y="2417497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&lt;index_tech&gt;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51760" y="2417497"/>
            <a:ext cx="6126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::= Sequential | Extendible | BPlus | RTree | &lt;id&gt;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83464" y="2719249"/>
            <a:ext cx="2286000" cy="283464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615184" y="2719249"/>
            <a:ext cx="6172200" cy="283464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0896" y="2719249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 err="1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select_stmt</a:t>
            </a:r>
            <a:r>
              <a:rPr lang="en-US" sz="9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51760" y="2719249"/>
            <a:ext cx="6126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::= SELECT * FROM &lt;id&gt; [ WHERE &lt;condition&gt; ]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83464" y="3021001"/>
            <a:ext cx="2286000" cy="283464"/>
          </a:xfrm>
          <a:prstGeom prst="rect">
            <a:avLst/>
          </a:prstGeom>
          <a:solidFill>
            <a:srgbClr val="1E3050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615184" y="3021001"/>
            <a:ext cx="6172200" cy="283464"/>
          </a:xfrm>
          <a:prstGeom prst="rect">
            <a:avLst/>
          </a:prstGeom>
          <a:solidFill>
            <a:srgbClr val="1E3050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0896" y="3021001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&lt;condition&gt;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651760" y="3021001"/>
            <a:ext cx="6126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::= &lt;point_cond&gt; | &lt;range_cond&gt; | &lt;spatial_cond&gt;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83464" y="3322753"/>
            <a:ext cx="2286000" cy="283464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615184" y="3322753"/>
            <a:ext cx="6172200" cy="283464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10896" y="3322753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&lt;range_cond&gt;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651760" y="3322753"/>
            <a:ext cx="6126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::= &lt;id&gt; BETWEEN &lt;value&gt; AND &lt;value&gt;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83464" y="3624505"/>
            <a:ext cx="2286000" cy="283464"/>
          </a:xfrm>
          <a:prstGeom prst="rect">
            <a:avLst/>
          </a:prstGeom>
          <a:solidFill>
            <a:srgbClr val="1E3050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615184" y="3624505"/>
            <a:ext cx="6172200" cy="283464"/>
          </a:xfrm>
          <a:prstGeom prst="rect">
            <a:avLst/>
          </a:prstGeom>
          <a:solidFill>
            <a:srgbClr val="1E3050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10896" y="3624505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&lt;spatial_cond&gt;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651760" y="3624505"/>
            <a:ext cx="6126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::= &lt;id&gt; IN ( POINT(&lt;num&gt;,&lt;num&gt;) , RADIUS &lt;num&gt; | K &lt;num&gt; 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83464" y="3926257"/>
            <a:ext cx="2286000" cy="283464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615184" y="3926257"/>
            <a:ext cx="6172200" cy="283464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10896" y="3926257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 err="1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insert_stmt</a:t>
            </a:r>
            <a:r>
              <a:rPr lang="en-US" sz="9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651760" y="3926257"/>
            <a:ext cx="6126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::= INSERT INTO &lt;id&gt; VALUES ( &lt;value_list&gt; 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83464" y="4228009"/>
            <a:ext cx="2286000" cy="283464"/>
          </a:xfrm>
          <a:prstGeom prst="rect">
            <a:avLst/>
          </a:prstGeom>
          <a:solidFill>
            <a:srgbClr val="1E3050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615184" y="4228009"/>
            <a:ext cx="6172200" cy="283464"/>
          </a:xfrm>
          <a:prstGeom prst="rect">
            <a:avLst/>
          </a:prstGeom>
          <a:solidFill>
            <a:srgbClr val="1E3050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10896" y="4228009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 err="1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delete_stmt</a:t>
            </a:r>
            <a:r>
              <a:rPr lang="en-US" sz="9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651760" y="4228009"/>
            <a:ext cx="6126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::= DELETE FROM &lt;id&gt; WHERE &lt;id&gt; = &lt;value&gt;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20040" y="4713732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8"/>
                </a:solidFill>
              </a:rPr>
              <a:t>EBNF  –  Extended Backus-Naur Form  ·  Recursive Descent Parsing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206240" cy="137160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54864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Memoria Secundaria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estrictamente a nivel de página de 4 KB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4206240" cy="137160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54864" cy="13716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5727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PageManager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9933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paginación fija integrado con todos los índices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4206240" cy="137160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54864" cy="1371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172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Indexación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5935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estructuras: Sequential, Hashing, B+ Tree, R-Tree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206240" cy="137160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3063240"/>
            <a:ext cx="54864" cy="13716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3172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Parser SQL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5935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 + Recursive Descent Parser con AST tipado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INDEXACIÓN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File  —  Estructura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5029200" cy="35204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54864" cy="3520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Organización Interna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Registros ordenados físicamente por clave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Sección principal + área auxiliar (overflow)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Umbral K: al llenarse el overflow, se reconstruye el archivo fusionando ambas secciones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9319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Implementado en sequential.py con PageManager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0" y="1463040"/>
            <a:ext cx="3108960" cy="502920"/>
          </a:xfrm>
          <a:prstGeom prst="rect">
            <a:avLst/>
          </a:prstGeom>
          <a:solidFill>
            <a:srgbClr val="00B4D8">
              <a:alpha val="80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Sección Principal  [ K1  K2  K3  … Kn 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1965960"/>
            <a:ext cx="0" cy="365760"/>
          </a:xfrm>
          <a:prstGeom prst="line">
            <a:avLst/>
          </a:prstGeom>
          <a:noFill/>
          <a:ln w="19050">
            <a:solidFill>
              <a:srgbClr val="8FA8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69280" y="2331720"/>
            <a:ext cx="3108960" cy="502920"/>
          </a:xfrm>
          <a:prstGeom prst="rect">
            <a:avLst/>
          </a:prstGeom>
          <a:solidFill>
            <a:srgbClr val="FFB703">
              <a:alpha val="70000"/>
            </a:srgbClr>
          </a:solidFill>
          <a:ln w="1905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Área Overflow  [ Ka  Kb  … 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2834640"/>
            <a:ext cx="0" cy="45720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⟳ Reconstrucción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3657600"/>
            <a:ext cx="3108960" cy="502920"/>
          </a:xfrm>
          <a:prstGeom prst="rect">
            <a:avLst/>
          </a:prstGeom>
          <a:solidFill>
            <a:srgbClr val="06D6A0">
              <a:alpha val="75000"/>
            </a:srgbClr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0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Archivo Ordenado Unificado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4297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8C8"/>
                </a:solidFill>
              </a:rPr>
              <a:t>Diagrama de estructura física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INDEXACIÓN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File  —  Complejidad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1024128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4864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Búsqueda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51760" y="1527048"/>
            <a:ext cx="2286000" cy="347472"/>
          </a:xfrm>
          <a:prstGeom prst="rect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51760" y="15270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 + O(K)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508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8"/>
                </a:solidFill>
              </a:rPr>
              <a:t>Binaria en sección principal + escaneo lineal en overflow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587752"/>
            <a:ext cx="8503920" cy="1024128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587752"/>
            <a:ext cx="54864" cy="102412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2679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Inserción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2697480"/>
            <a:ext cx="2286000" cy="347472"/>
          </a:xfrm>
          <a:prstGeom prst="rect">
            <a:avLst/>
          </a:prstGeom>
          <a:solidFill>
            <a:srgbClr val="FFB703">
              <a:alpha val="75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51760" y="26974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amortizado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26791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8"/>
                </a:solidFill>
              </a:rPr>
              <a:t>Append al área auxiliar; reconstrucción periódica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758184"/>
            <a:ext cx="8503920" cy="1024128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758184"/>
            <a:ext cx="54864" cy="10241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38496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Reconstrucción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51760" y="3867912"/>
            <a:ext cx="2286000" cy="347472"/>
          </a:xfrm>
          <a:prstGeom prst="rect">
            <a:avLst/>
          </a:prstGeom>
          <a:solidFill>
            <a:srgbClr val="06D6A0">
              <a:alpha val="7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51760" y="3867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+ K)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4920" y="384962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8"/>
                </a:solidFill>
              </a:rPr>
              <a:t>Merge físico de ambas secciones cuando overflow = 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7246" y="4404859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8C8"/>
                </a:solidFill>
              </a:rPr>
              <a:t>📌  El parámetro K es configurable. Un K bajo mantiene búsquedas rápidas pero reconstruye frecuentemente.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B703">
              <a:alpha val="8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INDEXACIÓN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Extendible Hashing  —  Estructura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846320" cy="7772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4864" cy="777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</a:rPr>
              <a:t>Directorio: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4447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Array de 2^D punteros a buckets. D = profundidad global.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13432"/>
            <a:ext cx="4846320" cy="7772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54864" cy="777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3408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</a:rPr>
              <a:t>Buckets: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234086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Capacidad fija por página (4 KB). Profundidad local d ≤ 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209544"/>
            <a:ext cx="4846320" cy="7772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209544"/>
            <a:ext cx="54864" cy="777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2369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</a:rPr>
              <a:t>Split: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3236976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Al llenarse un bucket: se divide en 2 y se actualizan punteros.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105656"/>
            <a:ext cx="4846320" cy="7772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4105656"/>
            <a:ext cx="54864" cy="777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133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</a:rPr>
              <a:t>Duplicación: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41330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Si d = D al dividir, el directorio se duplica automáticamente.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</a:rPr>
              <a:t>Directorio (D=2)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1783080"/>
            <a:ext cx="1097280" cy="457200"/>
          </a:xfrm>
          <a:prstGeom prst="rect">
            <a:avLst/>
          </a:prstGeom>
          <a:solidFill>
            <a:srgbClr val="1E3050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7784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703"/>
                </a:solidFill>
              </a:rPr>
              <a:t>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0" y="2011680"/>
            <a:ext cx="457200" cy="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32320" y="1783080"/>
            <a:ext cx="1463040" cy="457200"/>
          </a:xfrm>
          <a:prstGeom prst="rect">
            <a:avLst/>
          </a:prstGeom>
          <a:solidFill>
            <a:srgbClr val="FFB703">
              <a:alpha val="55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0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Bucket 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2331720"/>
            <a:ext cx="1097280" cy="457200"/>
          </a:xfrm>
          <a:prstGeom prst="rect">
            <a:avLst/>
          </a:prstGeom>
          <a:solidFill>
            <a:srgbClr val="1E3050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7784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703"/>
                </a:solidFill>
              </a:rPr>
              <a:t>01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0" y="2560320"/>
            <a:ext cx="457200" cy="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32320" y="2331720"/>
            <a:ext cx="1463040" cy="457200"/>
          </a:xfrm>
          <a:prstGeom prst="rect">
            <a:avLst/>
          </a:prstGeom>
          <a:solidFill>
            <a:srgbClr val="FFB703">
              <a:alpha val="55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32320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Bucket 01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2880360"/>
            <a:ext cx="1097280" cy="457200"/>
          </a:xfrm>
          <a:prstGeom prst="rect">
            <a:avLst/>
          </a:prstGeom>
          <a:solidFill>
            <a:srgbClr val="1E3050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77840" y="2880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703"/>
                </a:solidFill>
              </a:rPr>
              <a:t>10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0" y="3108960"/>
            <a:ext cx="457200" cy="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32320" y="2880360"/>
            <a:ext cx="1463040" cy="457200"/>
          </a:xfrm>
          <a:prstGeom prst="rect">
            <a:avLst/>
          </a:prstGeom>
          <a:solidFill>
            <a:srgbClr val="FFB703">
              <a:alpha val="55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3232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Bucket 10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77840" y="3429000"/>
            <a:ext cx="1097280" cy="457200"/>
          </a:xfrm>
          <a:prstGeom prst="rect">
            <a:avLst/>
          </a:prstGeom>
          <a:solidFill>
            <a:srgbClr val="1E3050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577840" y="3429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703"/>
                </a:solidFill>
              </a:rPr>
              <a:t>11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75120" y="3657600"/>
            <a:ext cx="457200" cy="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132320" y="3429000"/>
            <a:ext cx="1463040" cy="457200"/>
          </a:xfrm>
          <a:prstGeom prst="rect">
            <a:avLst/>
          </a:prstGeom>
          <a:solidFill>
            <a:srgbClr val="FFB703">
              <a:alpha val="55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132320" y="3429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Bucket 11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7784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O(1)  — acceso puntual ultra-rápido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77840" y="4462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8C8"/>
                </a:solidFill>
              </a:rPr>
              <a:t>No soporta búsquedas por rango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B703">
              <a:alpha val="8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INDEXACIÓN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Extendible Hashing  —  Dinámica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743200" cy="32918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1554480"/>
            <a:ext cx="640080" cy="640080"/>
          </a:xfrm>
          <a:prstGeom prst="ellipse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Inserción normal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h(k) apunta al bucket correcto. Se inserta si hay espacio.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1417320"/>
            <a:ext cx="2743200" cy="32918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15968" y="1554480"/>
            <a:ext cx="640080" cy="640080"/>
          </a:xfrm>
          <a:prstGeom prst="ellipse">
            <a:avLst/>
          </a:prstGeom>
          <a:solidFill>
            <a:srgbClr val="FFB703">
              <a:alpha val="85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15968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01568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703"/>
                </a:solidFill>
              </a:rPr>
              <a:t>Bucket overflow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2880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Bucket lleno. Si d &lt; D: split local. Se redistribuyen registros.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8776" y="1417320"/>
            <a:ext cx="2743200" cy="32918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60336" y="1554480"/>
            <a:ext cx="640080" cy="640080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60336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45936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Duplicar directorio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5936" y="2880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Si d = D: el directorio se duplica a 2^(D+1). D se incrementa.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solidFill>
            <a:srgbClr val="0D1E3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8C8"/>
                </a:solidFill>
              </a:rPr>
              <a:t>Búsqueda exacta: O(1)  ·  Inserción amortizada: O(1)  ·  Sin soporte de rangos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INDEXACIÓN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 Tree  —  Estructura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754880" cy="7772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4864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</a:rPr>
              <a:t>Nodos de Tamaño Fijo: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Cada nodo = 1 página </a:t>
            </a:r>
            <a:r>
              <a:rPr lang="en-US" sz="1100" dirty="0" err="1">
                <a:solidFill>
                  <a:srgbClr val="E8F4FD"/>
                </a:solidFill>
              </a:rPr>
              <a:t>física</a:t>
            </a:r>
            <a:r>
              <a:rPr lang="en-US" sz="1100" dirty="0">
                <a:solidFill>
                  <a:srgbClr val="E8F4FD"/>
                </a:solidFill>
              </a:rPr>
              <a:t> de Grado B.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13432"/>
            <a:ext cx="4754880" cy="7772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54864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3408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</a:rPr>
              <a:t>Hojas Enlazadas: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7066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Lista enlazada entre hojas permite rangos eficientes.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209544"/>
            <a:ext cx="4754880" cy="7772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209544"/>
            <a:ext cx="54864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2369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</a:rPr>
              <a:t>Nodos Internos: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6027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Solo guardan claves de separación y punteros a hijos.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105656"/>
            <a:ext cx="4754880" cy="7772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4105656"/>
            <a:ext cx="54864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133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</a:rPr>
              <a:t>Hojas: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4988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Almacenan pares (clave, puntero a registro) + puntero al siguiente hermano.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</a:rPr>
              <a:t>Árbol B+ (grado 2)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1783080"/>
            <a:ext cx="1554480" cy="457200"/>
          </a:xfrm>
          <a:prstGeom prst="rect">
            <a:avLst/>
          </a:prstGeom>
          <a:solidFill>
            <a:srgbClr val="8B5CF6">
              <a:alpha val="75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936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| 70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flipV="1">
            <a:off x="5760719" y="2240280"/>
            <a:ext cx="1325881" cy="365758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071362" y="2240280"/>
            <a:ext cx="120012" cy="36576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071362" y="2240280"/>
            <a:ext cx="1341118" cy="36576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166360" y="2606040"/>
            <a:ext cx="1280160" cy="457200"/>
          </a:xfrm>
          <a:prstGeom prst="rect">
            <a:avLst/>
          </a:prstGeom>
          <a:solidFill>
            <a:srgbClr val="1E3050"/>
          </a:solidFill>
          <a:ln w="1905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6636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10|20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2606040"/>
            <a:ext cx="1280160" cy="457200"/>
          </a:xfrm>
          <a:prstGeom prst="rect">
            <a:avLst/>
          </a:prstGeom>
          <a:solidFill>
            <a:srgbClr val="1E3050"/>
          </a:solidFill>
          <a:ln w="1905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8368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30|50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01000" y="2606040"/>
            <a:ext cx="1280160" cy="457200"/>
          </a:xfrm>
          <a:prstGeom prst="rect">
            <a:avLst/>
          </a:prstGeom>
          <a:solidFill>
            <a:srgbClr val="1E3050"/>
          </a:solidFill>
          <a:ln w="1905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00100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70|90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46520" y="2834640"/>
            <a:ext cx="457200" cy="0"/>
          </a:xfrm>
          <a:prstGeom prst="line">
            <a:avLst/>
          </a:prstGeom>
          <a:noFill/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863840" y="2834640"/>
            <a:ext cx="457200" cy="0"/>
          </a:xfrm>
          <a:prstGeom prst="line">
            <a:avLst/>
          </a:prstGeom>
          <a:noFill/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0" y="3063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6D6A0"/>
                </a:solidFill>
              </a:rPr>
              <a:t>→ linked →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INDEXACIÓN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 Tree  —  Operaciones y Complejidad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11760"/>
            <a:ext cx="8503920" cy="7772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11760"/>
            <a:ext cx="54864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30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Búsqueda Puntual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303200"/>
            <a:ext cx="2011680" cy="320040"/>
          </a:xfrm>
          <a:prstGeom prst="rect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0" y="130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1257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Descenso desde raíz a hoja siguiendo las claves de separación.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07872"/>
            <a:ext cx="8503920" cy="7772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107872"/>
            <a:ext cx="54864" cy="7772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2199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</a:rPr>
              <a:t>Búsqueda por Rango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6080" y="2199312"/>
            <a:ext cx="2011680" cy="320040"/>
          </a:xfrm>
          <a:prstGeom prst="rect">
            <a:avLst/>
          </a:prstGeom>
          <a:solidFill>
            <a:srgbClr val="48CAE4">
              <a:alpha val="75000"/>
            </a:srgbClr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26080" y="219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 + M)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215359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Llega a la primera hoja en O(log N), luego recorre M páginas enlazadas.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03984"/>
            <a:ext cx="8503920" cy="7772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003984"/>
            <a:ext cx="54864" cy="777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3095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</a:rPr>
              <a:t>Inserción + Split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3095424"/>
            <a:ext cx="2011680" cy="320040"/>
          </a:xfrm>
          <a:prstGeom prst="rect">
            <a:avLst/>
          </a:prstGeom>
          <a:solidFill>
            <a:srgbClr val="FFB703">
              <a:alpha val="75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26080" y="30954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304970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Inserta en hoja. Si overflow: split y propagación hacia arriba.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900096"/>
            <a:ext cx="8503920" cy="7772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3900096"/>
            <a:ext cx="54864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0352" y="3991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Eliminación + Merge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26080" y="3991536"/>
            <a:ext cx="2011680" cy="320040"/>
          </a:xfrm>
          <a:prstGeom prst="rect">
            <a:avLst/>
          </a:prstGeom>
          <a:solidFill>
            <a:srgbClr val="06D6A0">
              <a:alpha val="7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926080" y="39915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394581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Elimina en hoja. Si underflow (&lt;50%): redistribución o merge con hermano.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777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8C8"/>
                </a:solidFill>
              </a:rPr>
              <a:t>📌  Ocupación mínima garantizada del 50% en cada nodo (balanceo automático).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INDEXACIÓN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 Tree  —  Algoritmos de Balanceo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206240" cy="356616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54864" cy="35661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</a:rPr>
              <a:t>Split (División)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9659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① Nodo hoja alcanza capacidad máxima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2423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② Se crea nuevo nodo hermano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28803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③ Mitad de las claves se mueven al nuevo nodo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0352" y="33375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④ La clave media sube al padre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0352" y="37947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⑤ Si padre también lleno → split recursivo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42519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⑥ Si raíz llena → nueva raíz, árbol crece en altura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206240" cy="356616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54864" cy="35661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4630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</a:rPr>
              <a:t>Merge (Fusión)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965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① Nodo baja del umbral mínimo (50%)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② Intentar redistribución con hermano adyacente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28803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③ Si hermano tampoco cede → fusionar nodos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33375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④ Eliminar separador del padre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37947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⑤ Merge recursivo hacia la raíz si necesario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4251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⑥ Si raíz queda vacía → eliminarla, árbol decrece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INDEXACIÓN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R-Tree  —  Estructura Espacial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754880" cy="7772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4864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4447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MBR: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76479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Minimum Bounding Rectangle: cada nodo agrupa hijos en el rectángulo mínimo envolvente.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13432"/>
            <a:ext cx="4754880" cy="7772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54864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3408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Consultas: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66090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Intersección entre MBR del nodo y el área de consulta para podar ramas.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209544"/>
            <a:ext cx="4754880" cy="7772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209544"/>
            <a:ext cx="54864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32369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Datos: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355701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Indexa puntos geográficos multidimensionales (coordenadas x, y).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105656"/>
            <a:ext cx="4754880" cy="77724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4105656"/>
            <a:ext cx="54864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41330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Archivo: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445312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Implementado en Rtree.py. Compatible con el PageManager (páginas de 4 KB).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Visualización MBR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57800" y="1783080"/>
            <a:ext cx="3611880" cy="3017520"/>
          </a:xfrm>
          <a:prstGeom prst="rect">
            <a:avLst/>
          </a:prstGeom>
          <a:solidFill>
            <a:srgbClr val="06D6A0">
              <a:alpha val="12000"/>
            </a:srgbClr>
          </a:solidFill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0" y="1801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D6A0"/>
                </a:solidFill>
              </a:rPr>
              <a:t>MBR Raíz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94960" y="2011680"/>
            <a:ext cx="1554480" cy="1645920"/>
          </a:xfrm>
          <a:prstGeom prst="rect">
            <a:avLst/>
          </a:prstGeom>
          <a:solidFill>
            <a:srgbClr val="00B4D8">
              <a:alpha val="20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40680" y="2029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</a:rPr>
              <a:t>MBR 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86600" y="2194560"/>
            <a:ext cx="1645920" cy="1463040"/>
          </a:xfrm>
          <a:prstGeom prst="rect">
            <a:avLst/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32320" y="2212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703"/>
                </a:solidFill>
              </a:rPr>
              <a:t>MBR B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79008" y="2487168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36208" y="3127248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96128" y="3310128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24928" y="2578608"/>
            <a:ext cx="146304" cy="14630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973568" y="3035808"/>
            <a:ext cx="146304" cy="14630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333488" y="3401568"/>
            <a:ext cx="146304" cy="14630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INDEXACIÓN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R-Tree  —  Tipos de Consulta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206240" cy="338328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4864" cy="33832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</a:rPr>
              <a:t>🔵 Radius 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Retorna todos los puntos dentro de una distancia Euclidiana r desde el punto de consulta.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Poda de ramas: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90672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Si el MBR del nodo no interseca con el círculo de consulta, la rama completa se descarta → eficiencia alta.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931920"/>
            <a:ext cx="3383280" cy="384048"/>
          </a:xfrm>
          <a:prstGeom prst="rect">
            <a:avLst/>
          </a:prstGeom>
          <a:solidFill>
            <a:srgbClr val="06D6A0">
              <a:alpha val="7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Complejidad: O(log N + K)  resultado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4206240" cy="338328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54864" cy="33832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5087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</a:rPr>
              <a:t>🔶 kNN  (k-Nearest Neighbors)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965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Encuentra los K puntos más cercanos al punto objetivo sin radio fijo.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542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Best-First Search: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907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• Cola de prioridad (min-heap) por distancia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55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• Explora nodos más cercanos al query primero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6027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• Poda ramas cuyo MBR min-dist &gt; K-ésimo vecino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9502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• Retorna exactamente los K puntos más cercanos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5627" y="4363957"/>
            <a:ext cx="3383280" cy="320040"/>
          </a:xfrm>
          <a:prstGeom prst="rect">
            <a:avLst/>
          </a:prstGeom>
          <a:solidFill>
            <a:srgbClr val="FFB703">
              <a:alpha val="75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75627" y="4363957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Implementado con min-heap en Python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INDEXACIÓN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R-Tree  —  Caso de Uso y Comparativa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438912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Consulta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83080" y="14173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Descripción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83480" y="14173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Complejidad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29400" y="14173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8503920" cy="685800"/>
          </a:xfrm>
          <a:prstGeom prst="rect">
            <a:avLst/>
          </a:prstGeom>
          <a:solidFill>
            <a:srgbClr val="1E3050"/>
          </a:solidFill>
          <a:ln w="6350">
            <a:solidFill>
              <a:srgbClr val="06D6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920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</a:rPr>
              <a:t>Radius Search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83080" y="19202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</a:rPr>
              <a:t>Puntos en radio r desde (x,y)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83480" y="1920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</a:rPr>
              <a:t>O(log N + K)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</a:rPr>
              <a:t>MBR ∩ círculo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670048"/>
            <a:ext cx="8503920" cy="685800"/>
          </a:xfrm>
          <a:prstGeom prst="rect">
            <a:avLst/>
          </a:prstGeom>
          <a:solidFill>
            <a:srgbClr val="182840"/>
          </a:solidFill>
          <a:ln w="6350">
            <a:solidFill>
              <a:srgbClr val="06D6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67004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</a:rPr>
              <a:t>kNN Query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83080" y="26700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</a:rPr>
              <a:t>K vecinos más cercanos a (x,y)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267004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</a:rPr>
              <a:t>O(K log N)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29400" y="267004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</a:rPr>
              <a:t>min-dist MBR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419856"/>
            <a:ext cx="8503920" cy="685800"/>
          </a:xfrm>
          <a:prstGeom prst="rect">
            <a:avLst/>
          </a:prstGeom>
          <a:solidFill>
            <a:srgbClr val="1E3050"/>
          </a:solidFill>
          <a:ln w="6350">
            <a:solidFill>
              <a:srgbClr val="06D6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419856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</a:rPr>
              <a:t>Insert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83080" y="341985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</a:rPr>
              <a:t>Agregar nuevo punto geográfico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83480" y="3419856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</a:rPr>
              <a:t>O(log N)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29400" y="3419856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</a:rPr>
              <a:t>—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251960"/>
            <a:ext cx="8503920" cy="658368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4251960"/>
            <a:ext cx="54864" cy="6583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3251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Caso de Uso:  Búsqueda de puntos geográficos — restaurantes cercanos, sensores IoT, geolocalización en tiempo real.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0" cy="1371600"/>
          </a:xfrm>
          <a:prstGeom prst="rect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8503920" cy="804672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179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📦  Gestión Paginada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Toda operación trabaja a nivel de página de 4 KB; nunca se carga un archivo completo en RAM.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359152"/>
            <a:ext cx="8503920" cy="804672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359152"/>
            <a:ext cx="54864" cy="8046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4323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</a:rPr>
              <a:t>🗂️  4 Estructuras de Índice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Sequential, Extendible Hashing, B+ Tree y R-Tree cubren acceso puntual, rangos y datos espaciales.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273552"/>
            <a:ext cx="8503920" cy="804672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273552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3467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🌲  B+ Tree y R-Tree Completos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6758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Balanceo automático (split/merge), hojas enlazadas, Radius Search y kNN con poda de MBR.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4279392"/>
            <a:ext cx="4160520" cy="804672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4279392"/>
            <a:ext cx="54864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3525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🔤  Parser SQL Robusto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6817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DFA + Recursive Descent Parser genera AST tipado para CREATE, SELECT, INSERT y DELETE.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4279392"/>
            <a:ext cx="4160520" cy="804672"/>
          </a:xfrm>
          <a:prstGeom prst="rect">
            <a:avLst/>
          </a:prstGeom>
          <a:solidFill>
            <a:srgbClr val="1E3050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4279392"/>
            <a:ext cx="54864" cy="80467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43525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</a:rPr>
              <a:t>⚡  Escalabilidad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46817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Modelo de E/S paginada minimiza latencia de disco y maximiza densidad de datos por bloque.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1595</Words>
  <Application>Microsoft Office PowerPoint</Application>
  <PresentationFormat>Presentación en pantalla (16:9)</PresentationFormat>
  <Paragraphs>273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Simulador de Gestor de Base de Datos - BD2</dc:title>
  <dc:subject>PptxGenJS Presentation</dc:subject>
  <dc:creator>PptxGenJS</dc:creator>
  <cp:lastModifiedBy>Andres Torres</cp:lastModifiedBy>
  <cp:revision>5</cp:revision>
  <dcterms:created xsi:type="dcterms:W3CDTF">2026-05-09T21:10:21Z</dcterms:created>
  <dcterms:modified xsi:type="dcterms:W3CDTF">2026-05-10T09:18:42Z</dcterms:modified>
</cp:coreProperties>
</file>